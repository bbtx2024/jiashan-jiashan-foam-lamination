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6" r:id="rId4"/>
    <p:sldId id="275" r:id="rId5"/>
    <p:sldId id="279" r:id="rId6"/>
    <p:sldId id="280" r:id="rId7"/>
    <p:sldId id="284" r:id="rId8"/>
    <p:sldId id="281" r:id="rId9"/>
    <p:sldId id="300" r:id="rId10"/>
    <p:sldId id="282" r:id="rId11"/>
    <p:sldId id="283" r:id="rId12"/>
    <p:sldId id="285" r:id="rId13"/>
    <p:sldId id="296" r:id="rId14"/>
    <p:sldId id="297" r:id="rId15"/>
    <p:sldId id="286" r:id="rId16"/>
    <p:sldId id="299" r:id="rId17"/>
    <p:sldId id="298" r:id="rId18"/>
    <p:sldId id="301" r:id="rId19"/>
    <p:sldId id="302" r:id="rId20"/>
    <p:sldId id="25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jin Hu(LUXSHARE-ICT)" initials="KH" lastIdx="1" clrIdx="0">
    <p:extLst>
      <p:ext uri="{19B8F6BF-5375-455C-9EA6-DF929625EA0E}">
        <p15:presenceInfo xmlns:p15="http://schemas.microsoft.com/office/powerpoint/2012/main" userId="S-1-5-21-43931169-2233990642-712345318-7835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9" autoAdjust="0"/>
    <p:restoredTop sz="94660"/>
  </p:normalViewPr>
  <p:slideViewPr>
    <p:cSldViewPr snapToGrid="0">
      <p:cViewPr varScale="1">
        <p:scale>
          <a:sx n="99" d="100"/>
          <a:sy n="99" d="100"/>
        </p:scale>
        <p:origin x="2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22T10:51:11.978" idx="1">
    <p:pos x="7562" y="703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5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6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4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0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77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9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68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18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21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59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3C6C0-1019-4772-8FA0-36ADF09A2DF1}" type="datetimeFigureOut">
              <a:rPr lang="zh-CN" altLang="en-US" smtClean="0"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74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707"/>
            <a:ext cx="12191999" cy="55951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047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6185358"/>
            <a:ext cx="12192000" cy="6726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4"/>
          <p:cNvSpPr txBox="1">
            <a:spLocks noChangeArrowheads="1"/>
          </p:cNvSpPr>
          <p:nvPr/>
        </p:nvSpPr>
        <p:spPr bwMode="auto">
          <a:xfrm>
            <a:off x="7412181" y="2620037"/>
            <a:ext cx="3420466" cy="12003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自动化</a:t>
            </a:r>
            <a:r>
              <a:rPr lang="zh-CN" altLang="en-US" sz="32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Web Service</a:t>
            </a:r>
            <a:r>
              <a:rPr lang="en-US" altLang="zh-CN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      </a:t>
            </a:r>
          </a:p>
          <a:p>
            <a:pPr eaLnBrk="1" hangingPunct="1"/>
            <a:r>
              <a:rPr lang="en-US" altLang="zh-CN" sz="3600" b="1" dirty="0">
                <a:solidFill>
                  <a:srgbClr val="FB274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261678" y="2191657"/>
            <a:ext cx="0" cy="2438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9122414" y="3964764"/>
            <a:ext cx="1664610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</a:rPr>
              <a:t>SF</a:t>
            </a:r>
            <a:r>
              <a:rPr lang="zh-CN" altLang="zh-CN" b="1" dirty="0">
                <a:solidFill>
                  <a:schemeClr val="bg1"/>
                </a:solidFill>
              </a:rPr>
              <a:t>系统管理部</a:t>
            </a:r>
            <a:endParaRPr lang="zh-CN" altLang="en-US" sz="1200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828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9273" y="1088037"/>
            <a:ext cx="8028670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SUB</a:t>
            </a:r>
            <a:r>
              <a:rPr lang="zh-CN" altLang="en-US" b="1" dirty="0">
                <a:solidFill>
                  <a:srgbClr val="FFFF00"/>
                </a:solidFill>
              </a:rPr>
              <a:t>段</a:t>
            </a:r>
            <a:r>
              <a:rPr lang="en-US" altLang="zh-CN" b="1" dirty="0">
                <a:solidFill>
                  <a:srgbClr val="FFFF00"/>
                </a:solidFill>
              </a:rPr>
              <a:t>:   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http://10.55.4.100/</a:t>
            </a:r>
            <a:r>
              <a:rPr lang="en-US" altLang="zh-CN" dirty="0">
                <a:solidFill>
                  <a:srgbClr val="00B0F0"/>
                </a:solidFill>
              </a:rPr>
              <a:t>Automation_Sub</a:t>
            </a:r>
            <a:r>
              <a:rPr lang="en-US" altLang="zh-CN" dirty="0">
                <a:solidFill>
                  <a:schemeClr val="bg1"/>
                </a:solidFill>
              </a:rPr>
              <a:t>/LinkSF.asmx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   </a:t>
            </a:r>
            <a:r>
              <a:rPr lang="zh-CN" altLang="en-US" b="1" dirty="0">
                <a:solidFill>
                  <a:srgbClr val="FFFF00"/>
                </a:solidFill>
              </a:rPr>
              <a:t>组装</a:t>
            </a:r>
            <a:r>
              <a:rPr lang="en-US" altLang="zh-CN" b="1" dirty="0">
                <a:solidFill>
                  <a:srgbClr val="FFFF00"/>
                </a:solidFill>
              </a:rPr>
              <a:t>\</a:t>
            </a:r>
            <a:r>
              <a:rPr lang="zh-CN" altLang="en-US" b="1" dirty="0">
                <a:solidFill>
                  <a:srgbClr val="FFFF00"/>
                </a:solidFill>
              </a:rPr>
              <a:t>镭射</a:t>
            </a:r>
            <a:r>
              <a:rPr lang="en-US" altLang="zh-CN" b="1" dirty="0">
                <a:solidFill>
                  <a:srgbClr val="FFFF00"/>
                </a:solidFill>
              </a:rPr>
              <a:t>\</a:t>
            </a:r>
            <a:r>
              <a:rPr lang="zh-CN" altLang="en-US" b="1" dirty="0">
                <a:solidFill>
                  <a:srgbClr val="FFFF00"/>
                </a:solidFill>
              </a:rPr>
              <a:t>包装段</a:t>
            </a:r>
            <a:r>
              <a:rPr lang="en-US" altLang="zh-CN" b="1" dirty="0">
                <a:solidFill>
                  <a:srgbClr val="FFFF00"/>
                </a:solidFill>
              </a:rPr>
              <a:t>:</a:t>
            </a:r>
            <a:r>
              <a:rPr lang="en-US" altLang="zh-CN" b="1" dirty="0">
                <a:solidFill>
                  <a:schemeClr val="bg1"/>
                </a:solidFill>
              </a:rPr>
              <a:t>    </a:t>
            </a:r>
            <a:r>
              <a:rPr lang="en-US" altLang="zh-CN" dirty="0">
                <a:solidFill>
                  <a:schemeClr val="bg1"/>
                </a:solidFill>
              </a:rPr>
              <a:t>http://10.55.4.100/</a:t>
            </a:r>
            <a:r>
              <a:rPr lang="en-US" altLang="zh-CN" dirty="0">
                <a:solidFill>
                  <a:srgbClr val="00B0F0"/>
                </a:solidFill>
              </a:rPr>
              <a:t>Automation</a:t>
            </a:r>
            <a:r>
              <a:rPr lang="en-US" altLang="zh-CN" dirty="0">
                <a:solidFill>
                  <a:schemeClr val="bg1"/>
                </a:solidFill>
              </a:rPr>
              <a:t>/LinkSF.asmx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1FAFFA3-B3B6-4EC6-B83E-BB12F3EB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1" y="2221158"/>
            <a:ext cx="11410950" cy="31051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CC2431-AB95-4C9B-89CE-01F711777525}"/>
              </a:ext>
            </a:extLst>
          </p:cNvPr>
          <p:cNvSpPr txBox="1"/>
          <p:nvPr/>
        </p:nvSpPr>
        <p:spPr>
          <a:xfrm>
            <a:off x="419273" y="5759302"/>
            <a:ext cx="5403273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Query: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用于自动化设备向</a:t>
            </a:r>
            <a:r>
              <a:rPr lang="en-US" altLang="zh-CN" dirty="0">
                <a:solidFill>
                  <a:schemeClr val="bg1"/>
                </a:solidFill>
              </a:rPr>
              <a:t>MES</a:t>
            </a:r>
            <a:r>
              <a:rPr lang="zh-CN" altLang="en-US" dirty="0">
                <a:solidFill>
                  <a:schemeClr val="bg1"/>
                </a:solidFill>
              </a:rPr>
              <a:t>获取数据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>
                <a:solidFill>
                  <a:srgbClr val="00B0F0"/>
                </a:solidFill>
              </a:rPr>
              <a:t>check</a:t>
            </a:r>
            <a:r>
              <a:rPr lang="zh-CN" altLang="en-US" dirty="0">
                <a:solidFill>
                  <a:srgbClr val="00B0F0"/>
                </a:solidFill>
              </a:rPr>
              <a:t>逻辑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   ADD:    </a:t>
            </a:r>
            <a:r>
              <a:rPr lang="zh-CN" altLang="en-US" dirty="0">
                <a:solidFill>
                  <a:schemeClr val="bg1"/>
                </a:solidFill>
              </a:rPr>
              <a:t>用于自动化设备向</a:t>
            </a:r>
            <a:r>
              <a:rPr lang="en-US" altLang="zh-CN" dirty="0">
                <a:solidFill>
                  <a:schemeClr val="bg1"/>
                </a:solidFill>
              </a:rPr>
              <a:t>MES</a:t>
            </a:r>
            <a:r>
              <a:rPr lang="zh-CN" altLang="en-US" dirty="0">
                <a:solidFill>
                  <a:schemeClr val="bg1"/>
                </a:solidFill>
              </a:rPr>
              <a:t>传送数据（</a:t>
            </a:r>
            <a:r>
              <a:rPr lang="zh-CN" altLang="en-US" dirty="0">
                <a:solidFill>
                  <a:srgbClr val="00B0F0"/>
                </a:solidFill>
              </a:rPr>
              <a:t>过站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539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传入与输出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3372" y="983673"/>
            <a:ext cx="1179382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传入：</a:t>
            </a:r>
            <a:r>
              <a:rPr lang="en-US" altLang="zh-CN" dirty="0">
                <a:solidFill>
                  <a:schemeClr val="bg1"/>
                </a:solidFill>
              </a:rPr>
              <a:t>[{"sn":"GY6CG01HQ1CV","line":"A01-2FAS-01","station":"Check comp1","app":"PTL","fixid":"001","barcode":"BC SEAL|717011700SMSE300A+0112B01C01D12","p":"checkcomp, complist","carrier":""}]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3372" y="2563091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输出：</a:t>
            </a:r>
            <a:r>
              <a:rPr lang="en-US" altLang="zh-CN" dirty="0">
                <a:solidFill>
                  <a:schemeClr val="bg1"/>
                </a:solidFill>
              </a:rPr>
              <a:t>{"Result": "OK","Info": [{"msg": "checkcomp=OK;complist="},]}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372" y="3193304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备注：</a:t>
            </a:r>
            <a:r>
              <a:rPr lang="zh-CN" altLang="en-US" dirty="0">
                <a:solidFill>
                  <a:schemeClr val="bg1"/>
                </a:solidFill>
              </a:rPr>
              <a:t>输出的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里有多少信息取决于传入的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参数，传入有多少个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参数，输出的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里就会有多少个值</a:t>
            </a:r>
          </a:p>
        </p:txBody>
      </p:sp>
    </p:spTree>
    <p:extLst>
      <p:ext uri="{BB962C8B-B14F-4D97-AF65-F5344CB8AC3E}">
        <p14:creationId xmlns:p14="http://schemas.microsoft.com/office/powerpoint/2010/main" val="7867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传入与输出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3372" y="2563091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输出：</a:t>
            </a:r>
            <a:r>
              <a:rPr lang="en-US" altLang="zh-CN" dirty="0">
                <a:solidFill>
                  <a:schemeClr val="bg1"/>
                </a:solidFill>
              </a:rPr>
              <a:t>{"Result": "OK","Info": [{"msg": "OK"},]}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372" y="3193304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备注：</a:t>
            </a:r>
            <a:r>
              <a:rPr lang="zh-CN" altLang="en-US" dirty="0">
                <a:solidFill>
                  <a:schemeClr val="bg1"/>
                </a:solidFill>
              </a:rPr>
              <a:t>输出的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会有</a:t>
            </a:r>
            <a:r>
              <a:rPr lang="en-US" altLang="zh-CN" dirty="0">
                <a:solidFill>
                  <a:schemeClr val="bg1"/>
                </a:solidFill>
              </a:rPr>
              <a:t>OK/NG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就</a:t>
            </a:r>
            <a:r>
              <a:rPr lang="en-US" altLang="zh-CN" dirty="0">
                <a:solidFill>
                  <a:schemeClr val="bg1"/>
                </a:solidFill>
              </a:rPr>
              <a:t>OK</a:t>
            </a:r>
            <a:r>
              <a:rPr lang="zh-CN" altLang="en-US" dirty="0">
                <a:solidFill>
                  <a:schemeClr val="bg1"/>
                </a:solidFill>
              </a:rPr>
              <a:t>表示正常完成，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是</a:t>
            </a:r>
            <a:r>
              <a:rPr lang="en-US" altLang="zh-CN" dirty="0">
                <a:solidFill>
                  <a:schemeClr val="bg1"/>
                </a:solidFill>
              </a:rPr>
              <a:t>NG</a:t>
            </a:r>
            <a:r>
              <a:rPr lang="zh-CN" altLang="en-US" dirty="0">
                <a:solidFill>
                  <a:schemeClr val="bg1"/>
                </a:solidFill>
              </a:rPr>
              <a:t>的表示异常，此时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里会显示异常信息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3372" y="983673"/>
            <a:ext cx="1179382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传入：</a:t>
            </a:r>
            <a:r>
              <a:rPr lang="en-US" altLang="zh-CN" dirty="0">
                <a:solidFill>
                  <a:schemeClr val="bg1"/>
                </a:solidFill>
              </a:rPr>
              <a:t>[{"sn":"GY6CG01HQ1CV","line":"A01-2FAS-01","station":"Check comp1","app":"PTL","fixid":"001","barcode":"BC SEAL|717011700SMSE300A+0112B01C01D12","carrier":""}]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34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E6DC4D3-0846-46C9-B903-D49ADE39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16337"/>
              </p:ext>
            </p:extLst>
          </p:nvPr>
        </p:nvGraphicFramePr>
        <p:xfrm>
          <a:off x="772882" y="923955"/>
          <a:ext cx="11016345" cy="5825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336">
                  <a:extLst>
                    <a:ext uri="{9D8B030D-6E8A-4147-A177-3AD203B41FA5}">
                      <a16:colId xmlns:a16="http://schemas.microsoft.com/office/drawing/2014/main" val="4118956051"/>
                    </a:ext>
                  </a:extLst>
                </a:gridCol>
                <a:gridCol w="1786987">
                  <a:extLst>
                    <a:ext uri="{9D8B030D-6E8A-4147-A177-3AD203B41FA5}">
                      <a16:colId xmlns:a16="http://schemas.microsoft.com/office/drawing/2014/main" val="3316558988"/>
                    </a:ext>
                  </a:extLst>
                </a:gridCol>
                <a:gridCol w="3620840">
                  <a:extLst>
                    <a:ext uri="{9D8B030D-6E8A-4147-A177-3AD203B41FA5}">
                      <a16:colId xmlns:a16="http://schemas.microsoft.com/office/drawing/2014/main" val="1363723400"/>
                    </a:ext>
                  </a:extLst>
                </a:gridCol>
                <a:gridCol w="4409182">
                  <a:extLst>
                    <a:ext uri="{9D8B030D-6E8A-4147-A177-3AD203B41FA5}">
                      <a16:colId xmlns:a16="http://schemas.microsoft.com/office/drawing/2014/main" val="930404719"/>
                    </a:ext>
                  </a:extLst>
                </a:gridCol>
              </a:tblGrid>
              <a:tr h="3640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参数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重要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923762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c=QUERY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或</a:t>
                      </a:r>
                      <a:r>
                        <a:rPr lang="en-US" sz="2000" kern="0">
                          <a:effectLst/>
                        </a:rPr>
                        <a:t>QUERY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864393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sn=F9W2222J28MLKKH22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为主序号，</a:t>
                      </a:r>
                      <a:r>
                        <a:rPr lang="en-US" sz="2000" kern="0">
                          <a:effectLst/>
                        </a:rPr>
                        <a:t>Query</a:t>
                      </a:r>
                      <a:r>
                        <a:rPr lang="zh-CN" sz="2000" kern="0">
                          <a:effectLst/>
                        </a:rPr>
                        <a:t>可为主序号及材料序号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852286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barcode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必传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barcode=H0001,btn11111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格式：材料序号</a:t>
                      </a:r>
                      <a:r>
                        <a:rPr lang="en-US" sz="2000" kern="0">
                          <a:effectLst/>
                        </a:rPr>
                        <a:t>1,</a:t>
                      </a:r>
                      <a:r>
                        <a:rPr lang="zh-CN" sz="2000" kern="0">
                          <a:effectLst/>
                        </a:rPr>
                        <a:t>材料序号</a:t>
                      </a:r>
                      <a:r>
                        <a:rPr lang="en-US" sz="2000" kern="0">
                          <a:effectLst/>
                        </a:rPr>
                        <a:t>2</a:t>
                      </a:r>
                      <a:r>
                        <a:rPr lang="zh-CN" sz="2000" kern="0">
                          <a:effectLst/>
                        </a:rPr>
                        <a:t>，如果不</a:t>
                      </a:r>
                      <a:r>
                        <a:rPr lang="en-US" sz="2000" kern="0">
                          <a:effectLst/>
                        </a:rPr>
                        <a:t>link</a:t>
                      </a:r>
                      <a:r>
                        <a:rPr lang="zh-CN" sz="2000" kern="0">
                          <a:effectLst/>
                        </a:rPr>
                        <a:t>材料只过站即传</a:t>
                      </a:r>
                      <a:r>
                        <a:rPr lang="en-US" sz="2000" kern="0">
                          <a:effectLst/>
                        </a:rPr>
                        <a:t>NA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9669488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line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Line=A1_2F_HSG_01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按实际线传送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3923221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station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station=Link BTN holder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按实际站别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145476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app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app=PTL</a:t>
                      </a:r>
                      <a:r>
                        <a:rPr lang="zh-CN" altLang="en-US" sz="2000" kern="0" dirty="0">
                          <a:effectLst/>
                        </a:rPr>
                        <a:t>或者</a:t>
                      </a:r>
                      <a:r>
                        <a:rPr lang="en-US" altLang="zh-CN" sz="2000" kern="0" dirty="0">
                          <a:effectLst/>
                        </a:rPr>
                        <a:t>app=PQC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Link</a:t>
                      </a:r>
                      <a:r>
                        <a:rPr lang="zh-CN" sz="2000" kern="0" dirty="0">
                          <a:effectLst/>
                        </a:rPr>
                        <a:t>材料站传</a:t>
                      </a:r>
                      <a:r>
                        <a:rPr lang="en-US" sz="2000" kern="0" dirty="0">
                          <a:effectLst/>
                        </a:rPr>
                        <a:t>PTL</a:t>
                      </a:r>
                      <a:r>
                        <a:rPr lang="zh-CN" sz="2000" kern="0" dirty="0">
                          <a:effectLst/>
                        </a:rPr>
                        <a:t>，</a:t>
                      </a:r>
                      <a:r>
                        <a:rPr lang="zh-CN" altLang="en-US" sz="2000" kern="0" dirty="0">
                          <a:effectLst/>
                        </a:rPr>
                        <a:t>不</a:t>
                      </a:r>
                      <a:r>
                        <a:rPr lang="en-US" altLang="zh-CN" sz="2000" kern="0" dirty="0">
                          <a:effectLst/>
                        </a:rPr>
                        <a:t>link</a:t>
                      </a:r>
                      <a:r>
                        <a:rPr lang="zh-CN" altLang="en-US" sz="2000" kern="0" dirty="0">
                          <a:effectLst/>
                        </a:rPr>
                        <a:t>过站</a:t>
                      </a:r>
                      <a:r>
                        <a:rPr lang="en-US" sz="2000" kern="0" dirty="0">
                          <a:effectLst/>
                        </a:rPr>
                        <a:t>PQC</a:t>
                      </a:r>
                      <a:r>
                        <a:rPr lang="zh-CN" sz="2000" kern="0" dirty="0">
                          <a:effectLst/>
                        </a:rPr>
                        <a:t>，</a:t>
                      </a:r>
                      <a:r>
                        <a:rPr lang="en-US" sz="2000" kern="0" dirty="0">
                          <a:effectLst/>
                        </a:rPr>
                        <a:t>Laser</a:t>
                      </a:r>
                      <a:r>
                        <a:rPr lang="zh-CN" sz="2000" kern="0" dirty="0">
                          <a:effectLst/>
                        </a:rPr>
                        <a:t>镭雕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0123002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fixid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fixid=ict_001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实际机台</a:t>
                      </a:r>
                      <a:r>
                        <a:rPr lang="en-US" sz="2000" kern="0">
                          <a:effectLst/>
                        </a:rPr>
                        <a:t>ID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0240415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errcode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不良代码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Errcode=PASS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kern="0" dirty="0">
                          <a:effectLst/>
                        </a:rPr>
                        <a:t>PQC</a:t>
                      </a:r>
                      <a:r>
                        <a:rPr lang="zh-CN" altLang="en-US" sz="2000" kern="0" dirty="0">
                          <a:effectLst/>
                        </a:rPr>
                        <a:t>过站使用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0419772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carrier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时必传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carrier=carrier001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有</a:t>
                      </a:r>
                      <a:r>
                        <a:rPr lang="en-US" sz="2000" kern="0" dirty="0">
                          <a:effectLst/>
                        </a:rPr>
                        <a:t>link carrier</a:t>
                      </a:r>
                      <a:r>
                        <a:rPr lang="zh-CN" sz="2000" kern="0" dirty="0">
                          <a:effectLst/>
                        </a:rPr>
                        <a:t>，传</a:t>
                      </a:r>
                      <a:r>
                        <a:rPr lang="en-US" sz="2000" kern="0" dirty="0">
                          <a:effectLst/>
                        </a:rPr>
                        <a:t>carrier</a:t>
                      </a:r>
                      <a:r>
                        <a:rPr lang="zh-CN" sz="2000" kern="0" dirty="0">
                          <a:effectLst/>
                        </a:rPr>
                        <a:t>序号，不</a:t>
                      </a:r>
                      <a:r>
                        <a:rPr lang="en-US" sz="2000" kern="0" dirty="0">
                          <a:effectLst/>
                        </a:rPr>
                        <a:t>link</a:t>
                      </a:r>
                      <a:r>
                        <a:rPr lang="zh-CN" sz="2000" kern="0" dirty="0">
                          <a:effectLst/>
                        </a:rPr>
                        <a:t>传空值</a:t>
                      </a:r>
                      <a:r>
                        <a:rPr lang="zh-CN" altLang="en-US" sz="2000" kern="0" dirty="0">
                          <a:effectLst/>
                        </a:rPr>
                        <a:t>，</a:t>
                      </a:r>
                      <a:r>
                        <a:rPr lang="en-US" altLang="zh-CN" sz="2000" kern="0" dirty="0">
                          <a:effectLst/>
                        </a:rPr>
                        <a:t>checkcarrier</a:t>
                      </a:r>
                      <a:r>
                        <a:rPr lang="zh-CN" altLang="en-US" sz="2000" kern="0" dirty="0">
                          <a:effectLst/>
                        </a:rPr>
                        <a:t>检查治具有无维护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05477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p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Query</a:t>
                      </a:r>
                      <a:r>
                        <a:rPr lang="zh-CN" sz="2000" kern="0">
                          <a:effectLst/>
                        </a:rPr>
                        <a:t>时必传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p=model,pn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如下面</a:t>
                      </a:r>
                      <a:r>
                        <a:rPr lang="en-US" sz="2000" kern="0" dirty="0">
                          <a:effectLst/>
                        </a:rPr>
                        <a:t>P</a:t>
                      </a:r>
                      <a:r>
                        <a:rPr lang="zh-CN" sz="2000" kern="0" dirty="0">
                          <a:effectLst/>
                        </a:rPr>
                        <a:t>值列表</a:t>
                      </a:r>
                      <a:r>
                        <a:rPr lang="zh-CN" altLang="en-US" sz="2000" kern="0" dirty="0">
                          <a:effectLst/>
                        </a:rPr>
                        <a:t>（</a:t>
                      </a:r>
                      <a:r>
                        <a:rPr lang="zh-CN" altLang="en-US" sz="2000" b="1" kern="0" dirty="0">
                          <a:solidFill>
                            <a:srgbClr val="00B0F0"/>
                          </a:solidFill>
                          <a:effectLst/>
                        </a:rPr>
                        <a:t>多个参数用，隔开</a:t>
                      </a:r>
                      <a:r>
                        <a:rPr lang="zh-CN" altLang="en-US" sz="2000" kern="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05292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910E3F-4997-4D5E-8ABC-CFED430CD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4588" y="2353570"/>
            <a:ext cx="23073392" cy="992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51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DABFDE-166E-4FF4-89B4-CC8BD342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72494"/>
              </p:ext>
            </p:extLst>
          </p:nvPr>
        </p:nvGraphicFramePr>
        <p:xfrm>
          <a:off x="659218" y="1040946"/>
          <a:ext cx="3778193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8193">
                  <a:extLst>
                    <a:ext uri="{9D8B030D-6E8A-4147-A177-3AD203B41FA5}">
                      <a16:colId xmlns:a16="http://schemas.microsoft.com/office/drawing/2014/main" val="30983722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</a:t>
                      </a:r>
                      <a:r>
                        <a:rPr lang="zh-CN" sz="2000" kern="0" dirty="0">
                          <a:effectLst/>
                        </a:rPr>
                        <a:t>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1158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3341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Model</a:t>
                      </a:r>
                      <a:r>
                        <a:rPr lang="zh-CN" altLang="en-US" sz="2000" kern="0" dirty="0">
                          <a:effectLst/>
                        </a:rPr>
                        <a:t>：机种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0743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wo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13153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PN</a:t>
                      </a:r>
                      <a:r>
                        <a:rPr lang="zh-CN" altLang="en-US" sz="2000" kern="0" dirty="0">
                          <a:effectLst/>
                        </a:rPr>
                        <a:t>；</a:t>
                      </a:r>
                      <a:r>
                        <a:rPr lang="en-US" altLang="zh-CN" sz="2000" kern="0" dirty="0">
                          <a:effectLst/>
                        </a:rPr>
                        <a:t>GB</a:t>
                      </a:r>
                      <a:r>
                        <a:rPr lang="zh-CN" altLang="en-US" sz="2000" kern="0" dirty="0">
                          <a:effectLst/>
                        </a:rPr>
                        <a:t>料号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93845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stage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02341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config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87867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bg1"/>
                          </a:solidFill>
                          <a:effectLst/>
                        </a:rPr>
                        <a:t>Checkrouting:</a:t>
                      </a:r>
                      <a:r>
                        <a:rPr lang="zh-CN" altLang="en-US" sz="2000" kern="0" dirty="0">
                          <a:solidFill>
                            <a:schemeClr val="bg1"/>
                          </a:solidFill>
                          <a:effectLst/>
                        </a:rPr>
                        <a:t>检查流程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82885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chemeClr val="bg1"/>
                          </a:solidFill>
                        </a:rPr>
                        <a:t>Labeltemplate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：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pack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模版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52590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bcm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81074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hous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6653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spacer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56906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region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6177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cust_pn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02630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bezel_color</a:t>
                      </a:r>
                      <a:r>
                        <a:rPr lang="zh-CN" altLang="en-US" sz="2000" kern="0" dirty="0">
                          <a:effectLst/>
                        </a:rPr>
                        <a:t>：颜色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799863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04EBAE-4A37-4367-8F6E-E31720836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94397"/>
              </p:ext>
            </p:extLst>
          </p:nvPr>
        </p:nvGraphicFramePr>
        <p:xfrm>
          <a:off x="5822546" y="1040946"/>
          <a:ext cx="4603897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03897">
                  <a:extLst>
                    <a:ext uri="{9D8B030D-6E8A-4147-A177-3AD203B41FA5}">
                      <a16:colId xmlns:a16="http://schemas.microsoft.com/office/drawing/2014/main" val="2516744375"/>
                    </a:ext>
                  </a:extLst>
                </a:gridCol>
              </a:tblGrid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Country</a:t>
                      </a:r>
                      <a:r>
                        <a:rPr lang="zh-CN" altLang="en-US" sz="1800" kern="0" dirty="0">
                          <a:effectLst/>
                        </a:rPr>
                        <a:t>国别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2510442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BCM_Artwork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121510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mod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965632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moped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293998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Usb_mac_address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132747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Udid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481404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Device_ID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0768453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BB_SNUM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806960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IMEI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5960726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Ecid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2372696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Wifi_mac_address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5762319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bt_mac_address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879039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BC_ANT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374898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sensorflex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09784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rxcoilsn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9964589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checkhold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9962368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checkComp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：检查</a:t>
                      </a:r>
                      <a:r>
                        <a:rPr lang="en-US" altLang="zh-CN" sz="1800" kern="0" dirty="0">
                          <a:solidFill>
                            <a:schemeClr val="bg1"/>
                          </a:solidFill>
                          <a:effectLst/>
                        </a:rPr>
                        <a:t>bom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889237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Complist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：返回材料特征码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4505030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LaserTemplate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：镭雕模版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5345998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Checkcarrier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：检查治具是否维护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5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48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参数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3076" y="1654539"/>
            <a:ext cx="846574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[{“sn”:“FGR22222222N7GG222223”,“line”:“A01-2FT-02”,“station”:“Link NA flex”,“app”:“PTL”,“fixid”:“001”,“barcode”:“N FLEX|C4512312312PPKX12”,“p”:“</a:t>
            </a:r>
            <a:r>
              <a:rPr lang="en-US" altLang="zh-CN" b="1" dirty="0">
                <a:solidFill>
                  <a:srgbClr val="00B0F0"/>
                </a:solidFill>
              </a:rPr>
              <a:t>checkcomp,checkrounting,complist,wo,pn</a:t>
            </a:r>
            <a:r>
              <a:rPr lang="en-US" altLang="zh-CN" b="1" dirty="0">
                <a:solidFill>
                  <a:srgbClr val="FFFF00"/>
                </a:solidFill>
              </a:rPr>
              <a:t>","carrier":"LA1AC-AME-P2-2516&amp;OL00013011"}]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6C69D726-46EE-44A1-A387-87EC8FCF3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3" y="1087692"/>
            <a:ext cx="8353935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可带多个参数“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”隔开。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EB697F-1674-4633-B4BE-346B4758FD01}"/>
              </a:ext>
            </a:extLst>
          </p:cNvPr>
          <p:cNvSpPr/>
          <p:nvPr/>
        </p:nvSpPr>
        <p:spPr>
          <a:xfrm>
            <a:off x="492350" y="4285497"/>
            <a:ext cx="82582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SF-PC:</a:t>
            </a: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返回材料特征码，工单号，</a:t>
            </a:r>
            <a:r>
              <a:rPr lang="en-US" altLang="zh-CN" dirty="0">
                <a:solidFill>
                  <a:srgbClr val="FFFF00"/>
                </a:solidFill>
              </a:rPr>
              <a:t>GB</a:t>
            </a:r>
            <a:r>
              <a:rPr lang="zh-CN" altLang="en-US" dirty="0">
                <a:solidFill>
                  <a:srgbClr val="FFFF00"/>
                </a:solidFill>
              </a:rPr>
              <a:t>料号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{"Result": "OK","Info": [{"msg": "config=CS-R12b-f;wo=</a:t>
            </a:r>
            <a:r>
              <a:rPr lang="zh-CN" altLang="en-US" dirty="0">
                <a:solidFill>
                  <a:srgbClr val="00B0F0"/>
                </a:solidFill>
              </a:rPr>
              <a:t>TESTBCM-A-002</a:t>
            </a:r>
            <a:r>
              <a:rPr lang="zh-CN" altLang="en-US" dirty="0">
                <a:solidFill>
                  <a:srgbClr val="FFFF00"/>
                </a:solidFill>
              </a:rPr>
              <a:t>;complist=121-0000Z0-104H|N FLEX|0|</a:t>
            </a:r>
            <a:r>
              <a:rPr lang="zh-CN" altLang="en-US" dirty="0">
                <a:solidFill>
                  <a:srgbClr val="00B0F0"/>
                </a:solidFill>
              </a:rPr>
              <a:t>C45********PPKX**</a:t>
            </a:r>
            <a:r>
              <a:rPr lang="zh-CN" altLang="en-US" dirty="0">
                <a:solidFill>
                  <a:srgbClr val="FFFF00"/>
                </a:solidFill>
              </a:rPr>
              <a:t>,121-0000Z0-104H|N FLEX|0|</a:t>
            </a:r>
            <a:r>
              <a:rPr lang="zh-CN" altLang="en-US" dirty="0">
                <a:solidFill>
                  <a:srgbClr val="00B0F0"/>
                </a:solidFill>
              </a:rPr>
              <a:t>C46********PKFG**</a:t>
            </a:r>
            <a:r>
              <a:rPr lang="zh-CN" altLang="en-US" dirty="0">
                <a:solidFill>
                  <a:srgbClr val="FFFF00"/>
                </a:solidFill>
              </a:rPr>
              <a:t>;pn=</a:t>
            </a:r>
            <a:r>
              <a:rPr lang="zh-CN" altLang="en-US" dirty="0">
                <a:solidFill>
                  <a:srgbClr val="00B0F0"/>
                </a:solidFill>
              </a:rPr>
              <a:t>L00WS207-CS-H-BCM</a:t>
            </a:r>
            <a:r>
              <a:rPr lang="zh-CN" altLang="en-US" dirty="0">
                <a:solidFill>
                  <a:srgbClr val="FFFF00"/>
                </a:solidFill>
              </a:rPr>
              <a:t>"},]}</a:t>
            </a:r>
          </a:p>
        </p:txBody>
      </p:sp>
    </p:spTree>
    <p:extLst>
      <p:ext uri="{BB962C8B-B14F-4D97-AF65-F5344CB8AC3E}">
        <p14:creationId xmlns:p14="http://schemas.microsoft.com/office/powerpoint/2010/main" val="164094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807169" y="303039"/>
            <a:ext cx="2924241" cy="83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FCM</a:t>
            </a:r>
            <a:r>
              <a:rPr lang="zh-CN" altLang="en-US" sz="2000" dirty="0">
                <a:solidFill>
                  <a:schemeClr val="bg1"/>
                </a:solidFill>
              </a:rPr>
              <a:t>可用</a:t>
            </a:r>
            <a:r>
              <a:rPr lang="en-US" altLang="zh-CN" sz="2000" dirty="0">
                <a:solidFill>
                  <a:schemeClr val="bg1"/>
                </a:solidFill>
              </a:rPr>
              <a:t>SN: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89165"/>
              </p:ext>
            </p:extLst>
          </p:nvPr>
        </p:nvGraphicFramePr>
        <p:xfrm>
          <a:off x="44416" y="878246"/>
          <a:ext cx="12147584" cy="312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5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6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MODEL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LINE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WO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STATION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LA1D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BU18-NFA03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FJ909-M200428-0131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GQ101630026N8XGJE+E1A29VG64FBA031AFB2+GGH011101CLMQ404JQGB+0031314R9333312CT62000000000000000000+QGBFB2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Shadowgraph-pre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5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LA1D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BU18-NFA03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FJ909-M200428-0131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GQ10163000MN8XGJ5+E1G49VG64FBA031AFB2+GGH0111001TMQ404BQGB+002435LW9333312CT62000000000000000000+QGBFB2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Shadowgraph-pre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8453" marR="8453" marT="845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378307" y="328824"/>
            <a:ext cx="2924241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checkrouting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3077" y="1494484"/>
            <a:ext cx="1050719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[{"sn":"GQ1015500DKN8XFJ4+E1J49VG64JAA031AFD1+GGH0096008TN1W244QXA+0015109M9341212OT22000000000000000000+QXAFD1","line":"BU18-NFA03","station":"Link Montblanc","app":"PTL","fixid":"atuomation","barcode":"MONTBLANC|GTT09876546NRD800","p":"checkrouting","carrier":"001"}]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FF00"/>
                </a:solidFill>
              </a:rPr>
              <a:t>流程</a:t>
            </a:r>
            <a:r>
              <a:rPr lang="zh-CN" altLang="en-US" dirty="0">
                <a:solidFill>
                  <a:srgbClr val="FFFF00"/>
                </a:solidFill>
              </a:rPr>
              <a:t>正确：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checkrouting=OK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67A6FE-1947-4630-BE38-6AECE6266742}"/>
              </a:ext>
            </a:extLst>
          </p:cNvPr>
          <p:cNvSpPr txBox="1"/>
          <p:nvPr/>
        </p:nvSpPr>
        <p:spPr>
          <a:xfrm>
            <a:off x="423077" y="860932"/>
            <a:ext cx="10507192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Checkrouting</a:t>
            </a:r>
            <a:r>
              <a:rPr lang="zh-CN" altLang="en-US" dirty="0">
                <a:solidFill>
                  <a:schemeClr val="bg1"/>
                </a:solidFill>
              </a:rPr>
              <a:t>检查流程是否正确，返回参数：</a:t>
            </a:r>
            <a:r>
              <a:rPr lang="en-US" altLang="zh-CN" dirty="0">
                <a:solidFill>
                  <a:schemeClr val="bg1"/>
                </a:solidFill>
              </a:rPr>
              <a:t>checkrouting=ok</a:t>
            </a:r>
            <a:r>
              <a:rPr lang="zh-CN" altLang="en-US" dirty="0">
                <a:solidFill>
                  <a:schemeClr val="bg1"/>
                </a:solidFill>
              </a:rPr>
              <a:t>，表示流程正确，否则流程错误。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42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1F4799-0E23-446F-B868-34F5F4AD6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66197" y="1755400"/>
            <a:ext cx="18468222" cy="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706C4221-CED3-491E-B9E6-C7F0E9924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376" y="253956"/>
            <a:ext cx="2924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checkcomp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0AD727-0CF6-4C19-9ED9-751A1507A69E}"/>
              </a:ext>
            </a:extLst>
          </p:cNvPr>
          <p:cNvSpPr txBox="1"/>
          <p:nvPr/>
        </p:nvSpPr>
        <p:spPr>
          <a:xfrm>
            <a:off x="423077" y="860932"/>
            <a:ext cx="113463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checkcomp</a:t>
            </a:r>
            <a:r>
              <a:rPr lang="zh-CN" altLang="en-US" dirty="0">
                <a:solidFill>
                  <a:schemeClr val="bg1"/>
                </a:solidFill>
              </a:rPr>
              <a:t>检查需要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材料的特征码是否正确，返回参数：</a:t>
            </a:r>
            <a:r>
              <a:rPr lang="en-US" altLang="zh-CN" dirty="0">
                <a:solidFill>
                  <a:schemeClr val="bg1"/>
                </a:solidFill>
              </a:rPr>
              <a:t>checkcomp=ok</a:t>
            </a:r>
            <a:r>
              <a:rPr lang="zh-CN" altLang="en-US" dirty="0">
                <a:solidFill>
                  <a:schemeClr val="bg1"/>
                </a:solidFill>
              </a:rPr>
              <a:t>，表示该材料特征码正确可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，否则不能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[{"sn":"GQ1015500DKN8XFJ4+E1J49VG64JAA031AFD1+GGH0096008TN1W244QXA+0015109M9341212OT22000000000000000000+QXAFD1","line":"BU18-NFA03","station":"Link Montblanc","app":"PTL","fixid":"atuomation","barcode":"MONTBLANC|GTT09876546NRD800","p":"checkcomp","carrier":"001"}]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FF00"/>
                </a:solidFill>
              </a:rPr>
              <a:t>该</a:t>
            </a:r>
            <a:r>
              <a:rPr lang="zh-CN" altLang="en-US" dirty="0">
                <a:solidFill>
                  <a:srgbClr val="FFFF00"/>
                </a:solidFill>
              </a:rPr>
              <a:t>材料可用正常使用：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 err="1">
                <a:solidFill>
                  <a:srgbClr val="00B0F0"/>
                </a:solidFill>
              </a:rPr>
              <a:t>checkcomp</a:t>
            </a:r>
            <a:r>
              <a:rPr lang="en-US" altLang="zh-CN" dirty="0">
                <a:solidFill>
                  <a:srgbClr val="00B0F0"/>
                </a:solidFill>
              </a:rPr>
              <a:t>=OK</a:t>
            </a:r>
            <a:r>
              <a:rPr lang="en-US" altLang="zh-CN" dirty="0" smtClean="0">
                <a:solidFill>
                  <a:srgbClr val="FFFF00"/>
                </a:solidFill>
              </a:rPr>
              <a:t>"},]}</a:t>
            </a:r>
            <a:endParaRPr lang="en-US" altLang="zh-C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CD8CFE5E-5360-45DB-9CF0-580BFCC0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744" y="302930"/>
            <a:ext cx="2924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checkcarrier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F92126-9AF4-4ED6-AFF6-80D3777371E3}"/>
              </a:ext>
            </a:extLst>
          </p:cNvPr>
          <p:cNvSpPr txBox="1"/>
          <p:nvPr/>
        </p:nvSpPr>
        <p:spPr>
          <a:xfrm>
            <a:off x="310825" y="858638"/>
            <a:ext cx="113463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checkcarrier</a:t>
            </a:r>
            <a:r>
              <a:rPr lang="zh-CN" altLang="en-US" dirty="0">
                <a:solidFill>
                  <a:schemeClr val="bg1"/>
                </a:solidFill>
              </a:rPr>
              <a:t>检查治具是否正确，系统是否维护，正确返回参数：</a:t>
            </a:r>
            <a:r>
              <a:rPr lang="en-US" altLang="zh-CN" dirty="0">
                <a:solidFill>
                  <a:schemeClr val="bg1"/>
                </a:solidFill>
              </a:rPr>
              <a:t> checkcarrier=OK,</a:t>
            </a:r>
            <a:r>
              <a:rPr lang="zh-CN" altLang="en-US" dirty="0">
                <a:solidFill>
                  <a:schemeClr val="bg1"/>
                </a:solidFill>
              </a:rPr>
              <a:t>不需要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治具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en-US" altLang="zh-CN" dirty="0">
                <a:solidFill>
                  <a:srgbClr val="00B0F0"/>
                </a:solidFill>
              </a:rPr>
              <a:t>carrier=“”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[{"sn":"","line":"","station":"","app":"PTL","fixid":"","barcode":"","p":"checkcarrier","carrier":"001"}]</a:t>
            </a: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bg1"/>
                </a:solidFill>
              </a:rPr>
              <a:t>SF-PC</a:t>
            </a:r>
            <a:r>
              <a:rPr lang="en-US" altLang="zh-CN" b="1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FF00"/>
                </a:solidFill>
              </a:rPr>
              <a:t>该</a:t>
            </a:r>
            <a:r>
              <a:rPr lang="zh-CN" altLang="en-US" dirty="0">
                <a:solidFill>
                  <a:srgbClr val="FFFF00"/>
                </a:solidFill>
              </a:rPr>
              <a:t>治具可用正常使用：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checkcarrier=OK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2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29828" y="403252"/>
            <a:ext cx="4181879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87B10999-92D2-4553-8149-4BD3E6FED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69" y="1087692"/>
            <a:ext cx="12027892" cy="588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1.line error(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线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体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缺失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不正确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线体缺失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sn":"GQ1015500DKN8XFJ4+E1J49VG64JAA031AFD1+GGH0096008TN1W244QXA+0015109M9341212OT22000000000000000000+QXAFD1","line":"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BU18-NFA01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","station":"Link Montblanc","app":"PTL","fixid":"atuomation","barcode":"MONTBLANC|GTT09876546NRD800","p":"checkrouting","carrier":"001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"}]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{"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Result": "OK","Info": [{"msg": "checkcarrier=OK;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checkrouting=checkRouting NG:Routing Instance information not found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"},]}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2.station error(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制程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名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缺失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大小写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空格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制程大小写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[{"sn":"GQ1015500DKN8XFJ4+E1J49VG64JAA031AFD1+GGH0096008TN1W244QXA+0015109M9341212OT22000000000000000000+QXAFD1","line":"BU18-NFA03","station":"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 montblanc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","app":"PTL","fixid":"atuomation","barcode":"MONTBLANC|GTT09876546NRD800","p":"checkrouting","carrier":"001"}]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{"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Result": "OK","Info": [{"msg": "checkcarrier=OK;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checkrouting=checkRouting NG:Routing outstation information not found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"},]}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76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AA1DB-6D58-4752-BD3D-C2F488DE0CD5}"/>
              </a:ext>
            </a:extLst>
          </p:cNvPr>
          <p:cNvSpPr/>
          <p:nvPr/>
        </p:nvSpPr>
        <p:spPr>
          <a:xfrm>
            <a:off x="-2469" y="1157268"/>
            <a:ext cx="1175307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3.sn error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长度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）：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(SN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长度</a:t>
            </a:r>
            <a:r>
              <a:rPr lang="zh-CN" altLang="en-US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[{"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GQ1015500DKN8XFJ4+E1J49VG64JAA031AFD1+GGH0096008TN1W244QXA+0015109M9341212OT22000000000000000000+QXAFD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","line":"BU18-NFA03","station":"Link Montblanc","app":"PTL","fixid":"atuomation","barcode":"MONTBLANC|GTT09876546NRD800","p":"checkrouting","carrier":"001"}]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{"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Result": 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OK","Info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checkcarrier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=OK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 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checkrouting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checkRouting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NG:Routing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Instance information not found"},]}</a:t>
            </a:r>
            <a:endParaRPr lang="zh-CN" altLang="zh-CN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4.station 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不在此站（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流程</a:t>
            </a:r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(SN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流程</a:t>
            </a:r>
            <a:r>
              <a:rPr lang="zh-CN" altLang="en-US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[{"sn":"GQ1015500DKN8XFJ4+E1J49VG64JAA031AFD1+GGH0096008TN1W244QXA+0015109M9341212OT22000000000000000000+QXAFD1","line":"BU18-NFA03","station":"Shadowgraph-pre","app":"PTL","fixid":"atuomation","barcode":"MONTBLANC|GTT09876546NRD800","p":"checkrouting","carrier":"001"}]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{"Result": 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OK","Info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"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checkrouting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From:Link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Montblanc---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To:Assemble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Montblanc to Display"},]}</a:t>
            </a:r>
            <a:endParaRPr lang="zh-CN" altLang="zh-CN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3" y="403252"/>
            <a:ext cx="4143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76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4" y="403252"/>
            <a:ext cx="4207636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57268"/>
            <a:ext cx="1135916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5.carrier 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error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（治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具</a:t>
            </a:r>
            <a:r>
              <a:rPr lang="zh-CN" altLang="en-US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未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维护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刷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错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carrier 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zh-CN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治具</a:t>
            </a:r>
            <a:r>
              <a:rPr lang="zh-CN" altLang="en-US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未</a:t>
            </a:r>
            <a:r>
              <a:rPr lang="zh-CN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维护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sn":"GQ1015500DKN8XFJ4+E1J49VG64JAA031AFD1+GGH0096008TN1W244QXA+0015109M9341212OT22000000000000000000+QXAFD1","line":"BU18-NFA03","station":"Link Montblanc","app":"PTL","fixid":"atuomation","barcode":"MONTBLANC|GTT09876546NRD800","p":"checkrouting,checkcarrier","carrier":"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00001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"}]</a:t>
            </a:r>
          </a:p>
          <a:p>
            <a:r>
              <a:rPr lang="zh-CN" altLang="en-US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{"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Result": 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OK","Info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"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checkcarrier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</a:t>
            </a:r>
            <a:r>
              <a:rPr lang="en-US" altLang="zh-CN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;checkrouting</a:t>
            </a:r>
            <a:r>
              <a:rPr lang="en-US" altLang="zh-CN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=OK</a:t>
            </a:r>
            <a:r>
              <a:rPr lang="en-US" altLang="zh-CN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"},]}</a:t>
            </a:r>
          </a:p>
          <a:p>
            <a:endParaRPr lang="en-US" altLang="zh-CN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6.kpsn error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材料</a:t>
            </a:r>
            <a:r>
              <a:rPr lang="en-US" altLang="zh-CN" kern="100" dirty="0" err="1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zh-CN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检查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与工单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bom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维护是否一致，可用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complist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to query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(link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材料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异常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    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sn":"GQ1015500DKN8XFJ4+E1J49VG64JAA031AFD1+GGH0096008TN1W244QXA+0015109M9341212OT22000000000000000000+QXAFD1","line":"BU18-NFA03","station":"Link Montblanc","app":"PTL","fixid":"atuomation","barcode":"MONTBLANC|GTT0987654","p":"checkrouting,checkcarrier,checkcomp","carrier":"001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"}]</a:t>
            </a: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dirty="0">
                <a:solidFill>
                  <a:srgbClr val="FFFF00"/>
                </a:solidFill>
              </a:rPr>
              <a:t>{"Result": "</a:t>
            </a:r>
            <a:r>
              <a:rPr lang="en-US" altLang="zh-CN" dirty="0" err="1">
                <a:solidFill>
                  <a:srgbClr val="FFFF00"/>
                </a:solidFill>
              </a:rPr>
              <a:t>OK","Info</a:t>
            </a:r>
            <a:r>
              <a:rPr lang="en-US" altLang="zh-CN" dirty="0">
                <a:solidFill>
                  <a:srgbClr val="FFFF00"/>
                </a:solidFill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</a:rPr>
              <a:t>msg</a:t>
            </a:r>
            <a:r>
              <a:rPr lang="en-US" altLang="zh-CN" dirty="0">
                <a:solidFill>
                  <a:srgbClr val="FFFF00"/>
                </a:solidFill>
              </a:rPr>
              <a:t>": "</a:t>
            </a:r>
            <a:r>
              <a:rPr lang="en-US" altLang="zh-CN" dirty="0" err="1">
                <a:solidFill>
                  <a:srgbClr val="FFFF00"/>
                </a:solidFill>
              </a:rPr>
              <a:t>checkcarrier</a:t>
            </a:r>
            <a:r>
              <a:rPr lang="en-US" altLang="zh-CN" dirty="0">
                <a:solidFill>
                  <a:srgbClr val="FFFF00"/>
                </a:solidFill>
              </a:rPr>
              <a:t>=</a:t>
            </a:r>
            <a:r>
              <a:rPr lang="en-US" altLang="zh-CN" dirty="0" err="1">
                <a:solidFill>
                  <a:srgbClr val="FFFF00"/>
                </a:solidFill>
              </a:rPr>
              <a:t>OK;checkrouting</a:t>
            </a:r>
            <a:r>
              <a:rPr lang="en-US" altLang="zh-CN" dirty="0">
                <a:solidFill>
                  <a:srgbClr val="FFFF00"/>
                </a:solidFill>
              </a:rPr>
              <a:t>=</a:t>
            </a:r>
            <a:r>
              <a:rPr lang="en-US" altLang="zh-CN" dirty="0" err="1">
                <a:solidFill>
                  <a:srgbClr val="FFFF00"/>
                </a:solidFill>
              </a:rPr>
              <a:t>OK;</a:t>
            </a:r>
            <a:r>
              <a:rPr lang="en-US" altLang="zh-CN" dirty="0" err="1">
                <a:solidFill>
                  <a:srgbClr val="FF0000"/>
                </a:solidFill>
              </a:rPr>
              <a:t>checkcomp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r>
              <a:rPr lang="en-US" altLang="zh-CN" dirty="0">
                <a:solidFill>
                  <a:srgbClr val="FF0000"/>
                </a:solidFill>
              </a:rPr>
              <a:t>:GTT0987654,</a:t>
            </a:r>
            <a:r>
              <a:rPr lang="zh-CN" altLang="en-US" dirty="0">
                <a:solidFill>
                  <a:srgbClr val="FF0000"/>
                </a:solidFill>
              </a:rPr>
              <a:t>没有定义相应规则的特殊码</a:t>
            </a:r>
            <a:r>
              <a:rPr lang="en-US" altLang="zh-CN" dirty="0">
                <a:solidFill>
                  <a:srgbClr val="FF0000"/>
                </a:solidFill>
              </a:rPr>
              <a:t>"},]}</a:t>
            </a:r>
          </a:p>
          <a:p>
            <a:endParaRPr lang="en-US" altLang="zh-CN" dirty="0" smtClean="0">
              <a:solidFill>
                <a:srgbClr val="FFFF00"/>
              </a:solidFill>
            </a:endParaRPr>
          </a:p>
          <a:p>
            <a:endParaRPr lang="zh-CN" altLang="zh-C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05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AA1DB-6D58-4752-BD3D-C2F488DE0CD5}"/>
              </a:ext>
            </a:extLst>
          </p:cNvPr>
          <p:cNvSpPr/>
          <p:nvPr/>
        </p:nvSpPr>
        <p:spPr>
          <a:xfrm>
            <a:off x="0" y="1157268"/>
            <a:ext cx="118871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7.kpsn 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已被使用过</a:t>
            </a:r>
            <a:r>
              <a:rPr lang="zh-CN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KPSN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重复使用</a:t>
            </a:r>
            <a:r>
              <a:rPr lang="zh-CN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(KPSN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重复使用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Query</a:t>
            </a: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[{"sn":"GQ1015500DKN8XFJ4+E1J49VG64JAA031AFD1+GGH0096008TN1W244QXA+0015109M9341212OT22000000000000000000+QXAFD1</a:t>
            </a: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","line":"BU18-NFA03","station":"Link Montblanc","app":"PTL","fixid":"atuomation","barcode":"MONTBLANC|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GTT0083Q31LNRD823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","p":"checkrouting,checkcarrier,checkcomp","carrier":"001"}]</a:t>
            </a: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rgbClr val="FFFF00"/>
                </a:solidFill>
              </a:rPr>
              <a:t>{"Result": "</a:t>
            </a:r>
            <a:r>
              <a:rPr lang="en-US" altLang="zh-CN" dirty="0" err="1">
                <a:solidFill>
                  <a:srgbClr val="FFFF00"/>
                </a:solidFill>
              </a:rPr>
              <a:t>OK","Info</a:t>
            </a:r>
            <a:r>
              <a:rPr lang="en-US" altLang="zh-CN" dirty="0">
                <a:solidFill>
                  <a:srgbClr val="FFFF00"/>
                </a:solidFill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</a:rPr>
              <a:t>msg</a:t>
            </a:r>
            <a:r>
              <a:rPr lang="en-US" altLang="zh-CN" dirty="0">
                <a:solidFill>
                  <a:srgbClr val="FFFF00"/>
                </a:solidFill>
              </a:rPr>
              <a:t>": "</a:t>
            </a:r>
            <a:r>
              <a:rPr lang="en-US" altLang="zh-CN" dirty="0" err="1">
                <a:solidFill>
                  <a:srgbClr val="FF0000"/>
                </a:solidFill>
              </a:rPr>
              <a:t>checkcarrier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OK;checkcomp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r>
              <a:rPr lang="en-US" altLang="zh-CN" dirty="0">
                <a:solidFill>
                  <a:srgbClr val="FF0000"/>
                </a:solidFill>
              </a:rPr>
              <a:t>:GTT0083Q31LNRD823,</a:t>
            </a:r>
            <a:r>
              <a:rPr lang="zh-CN" altLang="en-US" dirty="0">
                <a:solidFill>
                  <a:srgbClr val="FF0000"/>
                </a:solidFill>
              </a:rPr>
              <a:t>已经被使用过，不能重复使用</a:t>
            </a:r>
            <a:r>
              <a:rPr lang="en-US" altLang="zh-CN" dirty="0">
                <a:solidFill>
                  <a:srgbClr val="FF0000"/>
                </a:solidFill>
              </a:rPr>
              <a:t>!</a:t>
            </a:r>
            <a:r>
              <a:rPr lang="en-US" altLang="zh-CN" dirty="0"/>
              <a:t>;</a:t>
            </a:r>
            <a:r>
              <a:rPr lang="en-US" altLang="zh-CN" dirty="0" err="1">
                <a:solidFill>
                  <a:srgbClr val="FFFF00"/>
                </a:solidFill>
              </a:rPr>
              <a:t>checkrouting</a:t>
            </a:r>
            <a:r>
              <a:rPr lang="en-US" altLang="zh-CN" dirty="0">
                <a:solidFill>
                  <a:srgbClr val="FFFF00"/>
                </a:solidFill>
              </a:rPr>
              <a:t>=OK"},]} 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just">
              <a:spcAft>
                <a:spcPts val="0"/>
              </a:spcAft>
            </a:pPr>
            <a:endParaRPr lang="en-US" altLang="zh-CN" dirty="0" smtClean="0">
              <a:solidFill>
                <a:srgbClr val="FFFF00"/>
              </a:solidFill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8. 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在不需要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材料的站位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材料</a:t>
            </a:r>
            <a:endParaRPr lang="en-US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站位不需要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材料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 ADD</a:t>
            </a:r>
            <a:endParaRPr lang="en-US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[{"sn":"GQ1015500GTN8XFJM+E1E69VG64AAA031AFD1+GGH009600HBN1W24TQXA+001413BD9341212OT22000000000000000000+QXAFD1","line":"BU18-NFA03","station":"Montblanc/Touch/ZIF MSMT","app":"PTL","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fixid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atuomation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barcode":"N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FLEX|CR109878906PKFG01","p":"checkrouting,checkcomp","carrier":"001"}]</a:t>
            </a: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{"Result": 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NG","Info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</a:t>
            </a: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没有维护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SUB_PTL_Group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请联系运维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"},]}</a:t>
            </a:r>
            <a:endParaRPr lang="en-US" altLang="zh-CN" kern="1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4" y="403252"/>
            <a:ext cx="367960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365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AA1DB-6D58-4752-BD3D-C2F488DE0CD5}"/>
              </a:ext>
            </a:extLst>
          </p:cNvPr>
          <p:cNvSpPr/>
          <p:nvPr/>
        </p:nvSpPr>
        <p:spPr>
          <a:xfrm>
            <a:off x="0" y="1157268"/>
            <a:ext cx="1175307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9.SN 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已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 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过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（此站主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已经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过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，不能在重复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主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已经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Link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过材料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 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</a:t>
            </a:r>
          </a:p>
          <a:p>
            <a:pPr algn="just">
              <a:spcAft>
                <a:spcPts val="0"/>
              </a:spcAft>
            </a:pP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[{"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sn":"BYD88888888PYR4666604","line":"BU18-NBA03","station":"Link NA flex","app":"PTL","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fixid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atuomation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barcode":"N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FLEX|CR109878906PKFG01","p":"","carrier":"001"}]</a:t>
            </a: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{"</a:t>
            </a:r>
            <a:r>
              <a:rPr lang="en-US" altLang="zh-CN" kern="100" dirty="0" err="1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Result“:"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NG","</a:t>
            </a:r>
            <a:r>
              <a:rPr lang="en-US" altLang="zh-CN" kern="100" dirty="0" err="1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Info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“:[{"msg“:</a:t>
            </a:r>
            <a:r>
              <a:rPr lang="en-US" altLang="zh-CN" kern="1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"ORA-00001</a:t>
            </a:r>
            <a:r>
              <a:rPr lang="zh-CN" altLang="zh-CN" kern="1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违反</a:t>
            </a:r>
            <a:r>
              <a:rPr lang="zh-CN" altLang="zh-CN" kern="1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唯一约束条件</a:t>
            </a:r>
            <a:r>
              <a:rPr lang="en-US" altLang="zh-CN" kern="1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(SHOPFLOOR.PK_PTL_AUTOLINKMATERIAL_COMP)"},]}</a:t>
            </a:r>
            <a:endParaRPr lang="zh-CN" altLang="zh-CN" kern="1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</a:t>
            </a: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endParaRPr lang="zh-CN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10.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参数格式错误（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Query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时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上传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json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格式不对）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此实例缺少中括号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 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</a:p>
          <a:p>
            <a:pPr algn="just">
              <a:spcAft>
                <a:spcPts val="0"/>
              </a:spcAft>
            </a:pP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sn":"GQ1015500GTN8XFJM+E1E69VG64AAA031AFD1+GGH009600HBN1W24TQXA+001413BD9341212OT22000000000000000000+QXAFD1","line":"BU18-NFA03","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station":"Assemble spring finger to FCM",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"app":"PQC","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fixid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":"</a:t>
            </a:r>
            <a:r>
              <a:rPr lang="en-US" altLang="zh-CN" dirty="0" err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atuomation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barcode":"N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FLEX|CR109878906PKFG01"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,"p":"checkrouting","carrier":"001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</a:t>
            </a:r>
            <a:endParaRPr lang="en-US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{"Result": 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NG","Info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"</a:t>
            </a:r>
            <a:r>
              <a:rPr lang="zh-CN" altLang="zh-CN" kern="1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在位置</a:t>
            </a:r>
            <a:r>
              <a:rPr lang="en-US" altLang="zh-CN" kern="1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0 </a:t>
            </a:r>
            <a:r>
              <a:rPr lang="zh-CN" altLang="zh-CN" kern="1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处没有任何行</a:t>
            </a:r>
            <a:r>
              <a:rPr lang="zh-CN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"},]}</a:t>
            </a:r>
            <a:endParaRPr lang="zh-CN" altLang="zh-CN" kern="100" dirty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4" y="403252"/>
            <a:ext cx="4387940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7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AA1DB-6D58-4752-BD3D-C2F488DE0CD5}"/>
              </a:ext>
            </a:extLst>
          </p:cNvPr>
          <p:cNvSpPr/>
          <p:nvPr/>
        </p:nvSpPr>
        <p:spPr>
          <a:xfrm>
            <a:off x="0" y="1157268"/>
            <a:ext cx="117530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11.SN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不存在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(SN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缺失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未投入工单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(SN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缺失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[{"sn":"GQ1015500GTN8XFJM+E1E69VG64AAA031AFD1+GGH009600HBN1W24TQXA+001413BD9341212OT22000000000000000000+QXAFD","line":"BU18-NFA03","station":"Assemble spring finger to FCM","app":"PQC","</a:t>
            </a:r>
            <a:r>
              <a:rPr lang="en-US" altLang="zh-CN" dirty="0" err="1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fixid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":"</a:t>
            </a:r>
            <a:r>
              <a:rPr lang="en-US" altLang="zh-CN" dirty="0" err="1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atuomation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","</a:t>
            </a:r>
            <a:r>
              <a:rPr lang="en-US" altLang="zh-CN" dirty="0" err="1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barcode":"N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FLEX|CR109878906PKFG01","p":"checkrouting","carrier":"001"}]</a:t>
            </a:r>
          </a:p>
          <a:p>
            <a:pPr algn="just">
              <a:spcAft>
                <a:spcPts val="0"/>
              </a:spcAft>
            </a:pP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{"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Result": 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NG","Info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[{"</a:t>
            </a:r>
            <a:r>
              <a:rPr lang="en-US" altLang="zh-CN" kern="100" dirty="0" err="1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msg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": 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"SN is not exist</a:t>
            </a:r>
            <a:r>
              <a:rPr lang="en-US" altLang="zh-CN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!"},]}</a:t>
            </a:r>
          </a:p>
          <a:p>
            <a:pPr algn="just">
              <a:spcAft>
                <a:spcPts val="0"/>
              </a:spcAft>
            </a:pPr>
            <a:endParaRPr lang="en-US" altLang="zh-CN" kern="100" dirty="0" smtClean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12. </a:t>
            </a:r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缺少</a:t>
            </a:r>
            <a:r>
              <a:rPr lang="en-US" altLang="zh-CN" kern="100" dirty="0" err="1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errorcode</a:t>
            </a:r>
            <a:endParaRPr lang="en-US" altLang="zh-CN" kern="100" dirty="0" smtClean="0">
              <a:solidFill>
                <a:srgbClr val="FFFF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缺少</a:t>
            </a:r>
            <a:r>
              <a:rPr lang="en-US" altLang="zh-CN" kern="100" dirty="0" err="1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errorcode</a:t>
            </a: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r>
              <a:rPr lang="en-US" altLang="zh-CN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endParaRPr lang="en-US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[{"sn":"GQ1015500GTN8XFJM+E1E69VG64AAA031AFD1+GGH009600HBN1W24TQXA+001413BD9341212OT22000000000000000000+QXAFD1","line":"BU18-NFA03","station":"Montblanc/Touch/ZIF MSMT","app":"PQC","fixid":"atuomation","barcode":"","p":"checkrouting","carrier":"001"}]</a:t>
            </a:r>
          </a:p>
          <a:p>
            <a:pPr algn="just"/>
            <a:r>
              <a:rPr lang="zh-CN" altLang="en-US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结果</a:t>
            </a:r>
            <a:r>
              <a:rPr lang="en-US" altLang="zh-CN" kern="100" dirty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FF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dirty="0">
                <a:solidFill>
                  <a:srgbClr val="FFFF00"/>
                </a:solidFill>
              </a:rPr>
              <a:t>{"Result": "</a:t>
            </a:r>
            <a:r>
              <a:rPr lang="en-US" altLang="zh-CN" dirty="0" err="1">
                <a:solidFill>
                  <a:srgbClr val="FFFF00"/>
                </a:solidFill>
              </a:rPr>
              <a:t>NG","Info</a:t>
            </a:r>
            <a:r>
              <a:rPr lang="en-US" altLang="zh-CN" dirty="0">
                <a:solidFill>
                  <a:srgbClr val="FFFF00"/>
                </a:solidFill>
              </a:rPr>
              <a:t>": [{"</a:t>
            </a:r>
            <a:r>
              <a:rPr lang="en-US" altLang="zh-CN" dirty="0" err="1">
                <a:solidFill>
                  <a:srgbClr val="FFFF00"/>
                </a:solidFill>
              </a:rPr>
              <a:t>msg</a:t>
            </a:r>
            <a:r>
              <a:rPr lang="en-US" altLang="zh-CN" dirty="0">
                <a:solidFill>
                  <a:srgbClr val="FFFF00"/>
                </a:solidFill>
              </a:rPr>
              <a:t>": "</a:t>
            </a:r>
            <a:r>
              <a:rPr lang="zh-CN" altLang="en-US" dirty="0">
                <a:solidFill>
                  <a:srgbClr val="FF0000"/>
                </a:solidFill>
              </a:rPr>
              <a:t>不良代码不能为空</a:t>
            </a:r>
            <a:r>
              <a:rPr lang="en-US" altLang="zh-CN" dirty="0">
                <a:solidFill>
                  <a:srgbClr val="FF0000"/>
                </a:solidFill>
              </a:rPr>
              <a:t>"},]}</a:t>
            </a:r>
            <a:endParaRPr lang="zh-CN" altLang="zh-CN" kern="1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4" y="403252"/>
            <a:ext cx="367960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报错信息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602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5" name="任意多边形 4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12" name="TextBox 105"/>
          <p:cNvSpPr txBox="1">
            <a:spLocks noChangeArrowheads="1"/>
          </p:cNvSpPr>
          <p:nvPr/>
        </p:nvSpPr>
        <p:spPr bwMode="auto">
          <a:xfrm>
            <a:off x="3324410" y="442441"/>
            <a:ext cx="5422426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Dll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俩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种（按引用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区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594" y="1013690"/>
            <a:ext cx="802867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添加引用（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dll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671" y="430089"/>
            <a:ext cx="18097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image00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7" y="1591607"/>
            <a:ext cx="5665744" cy="498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2676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19" name="任意多边形 18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平行四边形 23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6" name="TextBox 105"/>
          <p:cNvSpPr txBox="1">
            <a:spLocks noChangeArrowheads="1"/>
          </p:cNvSpPr>
          <p:nvPr/>
        </p:nvSpPr>
        <p:spPr bwMode="auto">
          <a:xfrm>
            <a:off x="3324410" y="442441"/>
            <a:ext cx="5422426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Dll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俩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种（按引用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区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8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216" y="349549"/>
            <a:ext cx="18097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29"/>
          <p:cNvSpPr txBox="1"/>
          <p:nvPr/>
        </p:nvSpPr>
        <p:spPr>
          <a:xfrm>
            <a:off x="228364" y="1013690"/>
            <a:ext cx="802867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服务引用（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1" name="图片 3" descr="image0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9" y="1513313"/>
            <a:ext cx="4637052" cy="369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图片 4" descr="image0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416" y="1513312"/>
            <a:ext cx="3806225" cy="362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8C3E1DB-690C-4E08-8ADA-A88DF392931E}"/>
              </a:ext>
            </a:extLst>
          </p:cNvPr>
          <p:cNvSpPr/>
          <p:nvPr/>
        </p:nvSpPr>
        <p:spPr>
          <a:xfrm>
            <a:off x="9197744" y="1513312"/>
            <a:ext cx="20125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LinkSF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sf = new </a:t>
            </a:r>
            <a:r>
              <a:rPr lang="en-US" altLang="zh-CN" dirty="0" err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LinkSF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highlight>
                  <a:srgbClr val="FFFFFF"/>
                </a:highlight>
              </a:rPr>
              <a:t>String result = </a:t>
            </a:r>
            <a:r>
              <a:rPr lang="en-US" altLang="zh-CN" dirty="0" err="1">
                <a:highlight>
                  <a:srgbClr val="FFFFFF"/>
                </a:highlight>
              </a:rPr>
              <a:t>sf.Query</a:t>
            </a:r>
            <a:r>
              <a:rPr lang="en-US" altLang="zh-CN" dirty="0">
                <a:highlight>
                  <a:srgbClr val="FFFFFF"/>
                </a:highlight>
              </a:rPr>
              <a:t>(json);</a:t>
            </a:r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If(){</a:t>
            </a: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else{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721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707"/>
            <a:ext cx="12191999" cy="55951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047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6185358"/>
            <a:ext cx="12192000" cy="6726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261678" y="2191657"/>
            <a:ext cx="0" cy="2438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4"/>
          <p:cNvSpPr txBox="1">
            <a:spLocks noChangeArrowheads="1"/>
          </p:cNvSpPr>
          <p:nvPr/>
        </p:nvSpPr>
        <p:spPr bwMode="auto">
          <a:xfrm>
            <a:off x="8366917" y="2907834"/>
            <a:ext cx="173094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3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谢谢</a:t>
            </a:r>
            <a:endParaRPr lang="zh-CN" altLang="en-US" sz="5300" b="1" dirty="0">
              <a:solidFill>
                <a:srgbClr val="FB274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7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6067</TotalTime>
  <Words>1818</Words>
  <Application>Microsoft Office PowerPoint</Application>
  <PresentationFormat>宽屏</PresentationFormat>
  <Paragraphs>253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 Unicode MS</vt:lpstr>
      <vt:lpstr>宋体</vt:lpstr>
      <vt:lpstr>微软雅黑</vt:lpstr>
      <vt:lpstr>新宋体</vt:lpstr>
      <vt:lpstr>Arial</vt:lpstr>
      <vt:lpstr>Calibri</vt:lpstr>
      <vt:lpstr>Calibri Light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Bill Dong(LUXSHARE-ICT)</dc:creator>
  <cp:lastModifiedBy>Nicky Lu(LUXSHARE-ICT)</cp:lastModifiedBy>
  <cp:revision>387</cp:revision>
  <dcterms:created xsi:type="dcterms:W3CDTF">2020-02-01T05:06:02Z</dcterms:created>
  <dcterms:modified xsi:type="dcterms:W3CDTF">2020-09-10T00:53:10Z</dcterms:modified>
</cp:coreProperties>
</file>